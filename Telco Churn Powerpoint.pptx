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9144000" cy="16256000"/>
  <p:embeddedFontLst>
    <p:embeddedFont>
      <p:font typeface="Oranienbaum" panose="020F0502020204030204" pitchFamily="2" charset="0"/>
      <p:regular r:id="rId19"/>
    </p:embeddedFont>
    <p:embeddedFont>
      <p:font typeface="Quattrocento Sans" panose="020F0502020204030204" pitchFamily="34" charset="0"/>
      <p:regular r:id="rId20"/>
    </p:embeddedFont>
  </p:embeddedFontLst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32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lastchar/telco-customer-chur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m4jkpg6ue4uw/mnt/agents/output/telco_churn/images/1_Signal_tower_telecommunication_network.png"/>
          <p:cNvPicPr>
            <a:picLocks noChangeAspect="1"/>
          </p:cNvPicPr>
          <p:nvPr/>
        </p:nvPicPr>
        <p:blipFill>
          <a:blip r:embed="rId3"/>
          <a:srcRect t="1631" b="16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2A4A">
                  <a:alpha val="80000"/>
                </a:srgbClr>
              </a:gs>
              <a:gs pos="50000">
                <a:srgbClr val="1B2A4A">
                  <a:alpha val="73000"/>
                </a:srgbClr>
              </a:gs>
              <a:gs pos="100000">
                <a:srgbClr val="1B2A4A">
                  <a:alpha val="9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3048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kern="0" spc="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TELCO CUSTOMER CHURN ANALYSIS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683000" y="412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Analytics Case Study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75500" y="4826000"/>
            <a:ext cx="1905000" cy="12700"/>
          </a:xfrm>
          <a:prstGeom prst="rect">
            <a:avLst/>
          </a:prstGeom>
          <a:solidFill>
            <a:srgbClr val="FFFFFF">
              <a:alpha val="33333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683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AnalystLab Africa Internship Program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3000" y="5588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 Gloria Ubah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9906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 of Contents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8034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13000"/>
            <a:ext cx="3429000" cy="584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794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79500" y="3937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Context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79500" y="45085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4762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customer retention challenge and defining analytical 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08500" y="2413000"/>
            <a:ext cx="3429000" cy="584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4826000" y="2794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826000" y="3937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&amp; Methodology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26000" y="45085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14" name="Text 12"/>
          <p:cNvSpPr/>
          <p:nvPr/>
        </p:nvSpPr>
        <p:spPr>
          <a:xfrm>
            <a:off x="4826000" y="4762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characteristics, analytical tools, and systematic approach to uncovering churn drivers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55000" y="2413000"/>
            <a:ext cx="3429000" cy="584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0" y="2794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572500" y="3937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72500" y="45085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19" name="Text 17"/>
          <p:cNvSpPr/>
          <p:nvPr/>
        </p:nvSpPr>
        <p:spPr>
          <a:xfrm>
            <a:off x="8572500" y="4762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discoveries from comprehensive customer churn analysis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001500" y="2413000"/>
            <a:ext cx="3429000" cy="584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1" name="Text 19"/>
          <p:cNvSpPr/>
          <p:nvPr/>
        </p:nvSpPr>
        <p:spPr>
          <a:xfrm>
            <a:off x="12319000" y="2794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12319000" y="3937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319000" y="48260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24" name="Text 22"/>
          <p:cNvSpPr/>
          <p:nvPr/>
        </p:nvSpPr>
        <p:spPr>
          <a:xfrm>
            <a:off x="12319000" y="50165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retention strategies to reduce churn and improve customer loyalty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m4jkpg6ue4uw/mnt/agents/output/telco_churn/images/1_Signal_tower_telecommunication_network.png"/>
          <p:cNvPicPr>
            <a:picLocks noChangeAspect="1"/>
          </p:cNvPicPr>
          <p:nvPr/>
        </p:nvPicPr>
        <p:blipFill>
          <a:blip r:embed="rId3"/>
          <a:srcRect t="1631" b="16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2A4A">
                  <a:alpha val="93000"/>
                </a:srgbClr>
              </a:gs>
              <a:gs pos="60000">
                <a:srgbClr val="1B2A4A">
                  <a:alpha val="87000"/>
                </a:srgbClr>
              </a:gs>
              <a:gs pos="100000">
                <a:srgbClr val="1B2A4A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175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762000" cy="508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CONTEXT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customer retention challenge and defining analytical objectives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Customer Churn Threatens Revenue and Profitability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company is experiencing significant </a:t>
            </a: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churn</a:t>
            </a: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resulting in direct revenue loss and substantially increased customer acquisition costs.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Retaining existing customers is </a:t>
            </a: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5-25x more cost-effective</a:t>
            </a: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acquiring new ones, making churn reduction a critical strategic priority.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data-driven intervention, churn will continue eroding the customer base and competitive position.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0" y="1460500"/>
            <a:ext cx="12700" cy="6350000"/>
          </a:xfrm>
          <a:prstGeom prst="rect">
            <a:avLst/>
          </a:prstGeom>
          <a:solidFill>
            <a:srgbClr val="D5CFC6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0" y="1460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0" y="1968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churn patterns</a:t>
            </a: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customer segments, services, and contract types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298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890000" y="2921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key drivers</a:t>
            </a: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customer churn through statistical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3873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an interactive dashboard</a:t>
            </a: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ongoing churn monitoring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71238" y="266700"/>
                </a:moveTo>
                <a:cubicBezTo>
                  <a:pt x="277998" y="251212"/>
                  <a:pt x="291518" y="237182"/>
                  <a:pt x="306798" y="225098"/>
                </a:cubicBezTo>
                <a:cubicBezTo>
                  <a:pt x="337079" y="201206"/>
                  <a:pt x="355600" y="168910"/>
                  <a:pt x="355600" y="133350"/>
                </a:cubicBezTo>
                <a:cubicBezTo>
                  <a:pt x="355600" y="59730"/>
                  <a:pt x="275960" y="0"/>
                  <a:pt x="177800" y="0"/>
                </a:cubicBezTo>
                <a:cubicBezTo>
                  <a:pt x="79640" y="0"/>
                  <a:pt x="0" y="59730"/>
                  <a:pt x="0" y="133350"/>
                </a:cubicBezTo>
                <a:cubicBezTo>
                  <a:pt x="0" y="168910"/>
                  <a:pt x="18521" y="201206"/>
                  <a:pt x="48802" y="225098"/>
                </a:cubicBezTo>
                <a:cubicBezTo>
                  <a:pt x="64082" y="237182"/>
                  <a:pt x="77695" y="251212"/>
                  <a:pt x="84362" y="266700"/>
                </a:cubicBezTo>
                <a:lnTo>
                  <a:pt x="271145" y="266700"/>
                </a:lnTo>
                <a:close/>
                <a:moveTo>
                  <a:pt x="266700" y="300038"/>
                </a:moveTo>
                <a:lnTo>
                  <a:pt x="88900" y="300038"/>
                </a:lnTo>
                <a:lnTo>
                  <a:pt x="88900" y="311150"/>
                </a:lnTo>
                <a:cubicBezTo>
                  <a:pt x="88900" y="341848"/>
                  <a:pt x="122052" y="366712"/>
                  <a:pt x="162983" y="366712"/>
                </a:cubicBezTo>
                <a:lnTo>
                  <a:pt x="192617" y="366712"/>
                </a:lnTo>
                <a:cubicBezTo>
                  <a:pt x="233548" y="366712"/>
                  <a:pt x="266700" y="341848"/>
                  <a:pt x="266700" y="311150"/>
                </a:cubicBezTo>
                <a:lnTo>
                  <a:pt x="266700" y="300038"/>
                </a:lnTo>
                <a:close/>
                <a:moveTo>
                  <a:pt x="170392" y="77788"/>
                </a:moveTo>
                <a:cubicBezTo>
                  <a:pt x="133535" y="77788"/>
                  <a:pt x="103717" y="100151"/>
                  <a:pt x="103717" y="127794"/>
                </a:cubicBezTo>
                <a:cubicBezTo>
                  <a:pt x="103717" y="137031"/>
                  <a:pt x="93808" y="144463"/>
                  <a:pt x="81492" y="144463"/>
                </a:cubicBezTo>
                <a:cubicBezTo>
                  <a:pt x="69175" y="144463"/>
                  <a:pt x="59267" y="137031"/>
                  <a:pt x="59267" y="127794"/>
                </a:cubicBezTo>
                <a:cubicBezTo>
                  <a:pt x="59267" y="81746"/>
                  <a:pt x="108995" y="44450"/>
                  <a:pt x="170392" y="44450"/>
                </a:cubicBezTo>
                <a:cubicBezTo>
                  <a:pt x="182708" y="44450"/>
                  <a:pt x="192617" y="51881"/>
                  <a:pt x="192617" y="61119"/>
                </a:cubicBezTo>
                <a:cubicBezTo>
                  <a:pt x="192617" y="70356"/>
                  <a:pt x="182708" y="77788"/>
                  <a:pt x="170392" y="77788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4826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actionable recommendations</a:t>
            </a: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improve customer retention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2000" y="5969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82000" y="6413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understanding of churn drivers with targeted retention strategies to reduce churn rate and improve customer lifetime value.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IBM Telco Customer Churn Dataset (Kaggle)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m4jkpg6ue4uw/mnt/agents/output/telco_churn/images/1_Signal_tower_telecommunication_network.png"/>
          <p:cNvPicPr>
            <a:picLocks noChangeAspect="1"/>
          </p:cNvPicPr>
          <p:nvPr/>
        </p:nvPicPr>
        <p:blipFill>
          <a:blip r:embed="rId3"/>
          <a:srcRect t="1631" b="16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2A4A">
                  <a:alpha val="93000"/>
                </a:srgbClr>
              </a:gs>
              <a:gs pos="60000">
                <a:srgbClr val="1B2A4A">
                  <a:alpha val="87000"/>
                </a:srgbClr>
              </a:gs>
              <a:gs pos="100000">
                <a:srgbClr val="1B2A4A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175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762000" cy="508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&amp; METHODOLOGY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characteristics, analytical tools, and systematic approach to uncovering churn drivers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IBM Telco Dataset Provides 7,043 Customer Records Across 21 Variables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2794000" cy="127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7,043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2000" y="21844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10000" y="1460500"/>
            <a:ext cx="2794000" cy="127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0" y="1524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10000" y="21844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1460500"/>
            <a:ext cx="2794000" cy="127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524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1,869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858000" y="21844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Churned Customers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906000" y="1460500"/>
            <a:ext cx="2794000" cy="127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0" y="1524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26.5%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906000" y="21844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Churn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304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CATEGORIES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492500"/>
          <a:ext cx="14732000" cy="4699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7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Demographics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gender, SeniorCitizen, Partner, Dependents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Customer personal and household characteristics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7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Services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PhoneService, MultipleLines, InternetService, OnlineSecurity, OnlineBackup, DeviceProtection, TechSupport, StreamingTV, StreamingMovies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Subscribed telecom and value-added services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7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Contract &amp; Billing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Contract, PaperlessBilling, PaymentMethod, MonthlyCharges, TotalCharges, tenure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Contract terms, payment preferences, and billing details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7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Target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Churn (Yes / No)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14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Whether the customer left within the last month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8382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</a:t>
            </a:r>
            <a:r>
              <a:rPr lang="en-US" sz="1200" u="sng" dirty="0">
                <a:solidFill>
                  <a:srgbClr val="5A6B7C"/>
                </a:solidFill>
                <a:uFill>
                  <a:solidFill>
                    <a:srgbClr val="5A6B7C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IBM Telco Customer Churn Dataset (Kaggle)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Four-Phase Analysis Pipeline: From Raw Data to Actionable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3429000" cy="6731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302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9739" y="48756"/>
                </a:moveTo>
                <a:cubicBezTo>
                  <a:pt x="459661" y="37594"/>
                  <a:pt x="459661" y="19467"/>
                  <a:pt x="449739" y="8305"/>
                </a:cubicBezTo>
                <a:cubicBezTo>
                  <a:pt x="439817" y="-2857"/>
                  <a:pt x="423704" y="-2857"/>
                  <a:pt x="413782" y="8305"/>
                </a:cubicBezTo>
                <a:lnTo>
                  <a:pt x="261382" y="179755"/>
                </a:lnTo>
                <a:lnTo>
                  <a:pt x="233839" y="148769"/>
                </a:lnTo>
                <a:cubicBezTo>
                  <a:pt x="230505" y="145018"/>
                  <a:pt x="225901" y="142875"/>
                  <a:pt x="221139" y="142875"/>
                </a:cubicBezTo>
                <a:cubicBezTo>
                  <a:pt x="211217" y="142875"/>
                  <a:pt x="203200" y="151894"/>
                  <a:pt x="203200" y="163056"/>
                </a:cubicBezTo>
                <a:lnTo>
                  <a:pt x="203200" y="189041"/>
                </a:lnTo>
                <a:lnTo>
                  <a:pt x="289163" y="285750"/>
                </a:lnTo>
                <a:lnTo>
                  <a:pt x="312261" y="285750"/>
                </a:lnTo>
                <a:cubicBezTo>
                  <a:pt x="322183" y="285750"/>
                  <a:pt x="330200" y="276731"/>
                  <a:pt x="330200" y="265569"/>
                </a:cubicBezTo>
                <a:cubicBezTo>
                  <a:pt x="330200" y="260211"/>
                  <a:pt x="328295" y="255032"/>
                  <a:pt x="324961" y="251281"/>
                </a:cubicBezTo>
                <a:lnTo>
                  <a:pt x="297418" y="220295"/>
                </a:lnTo>
                <a:lnTo>
                  <a:pt x="449818" y="48845"/>
                </a:lnTo>
                <a:close/>
                <a:moveTo>
                  <a:pt x="270748" y="315575"/>
                </a:moveTo>
                <a:lnTo>
                  <a:pt x="176689" y="209758"/>
                </a:lnTo>
                <a:cubicBezTo>
                  <a:pt x="142796" y="206454"/>
                  <a:pt x="109061" y="220206"/>
                  <a:pt x="84773" y="247531"/>
                </a:cubicBezTo>
                <a:lnTo>
                  <a:pt x="78423" y="254675"/>
                </a:lnTo>
                <a:cubicBezTo>
                  <a:pt x="60722" y="274588"/>
                  <a:pt x="50800" y="301556"/>
                  <a:pt x="50800" y="329684"/>
                </a:cubicBezTo>
                <a:cubicBezTo>
                  <a:pt x="50800" y="335756"/>
                  <a:pt x="56436" y="339685"/>
                  <a:pt x="61278" y="337006"/>
                </a:cubicBezTo>
                <a:lnTo>
                  <a:pt x="101838" y="314236"/>
                </a:lnTo>
                <a:cubicBezTo>
                  <a:pt x="105807" y="312003"/>
                  <a:pt x="109379" y="317897"/>
                  <a:pt x="106124" y="321290"/>
                </a:cubicBezTo>
                <a:lnTo>
                  <a:pt x="5794" y="422731"/>
                </a:lnTo>
                <a:cubicBezTo>
                  <a:pt x="2143" y="426482"/>
                  <a:pt x="0" y="431840"/>
                  <a:pt x="0" y="437465"/>
                </a:cubicBezTo>
                <a:cubicBezTo>
                  <a:pt x="0" y="448360"/>
                  <a:pt x="7858" y="457200"/>
                  <a:pt x="17542" y="457200"/>
                </a:cubicBezTo>
                <a:lnTo>
                  <a:pt x="155099" y="457200"/>
                </a:lnTo>
                <a:cubicBezTo>
                  <a:pt x="185896" y="457200"/>
                  <a:pt x="215344" y="443448"/>
                  <a:pt x="237173" y="418981"/>
                </a:cubicBezTo>
                <a:cubicBezTo>
                  <a:pt x="261461" y="391656"/>
                  <a:pt x="273606" y="353705"/>
                  <a:pt x="270748" y="315575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76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16000" y="29464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49600"/>
            <a:ext cx="2921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Handled missing values in TotalCharges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Converted data types for numerical analysis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categorical variables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Tool: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(Pandas, NumPy)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8000" y="4699000"/>
            <a:ext cx="317500" cy="0"/>
          </a:xfrm>
          <a:prstGeom prst="straightConnector1">
            <a:avLst/>
          </a:prstGeom>
          <a:noFill/>
          <a:ln w="25400">
            <a:solidFill>
              <a:srgbClr val="C75B3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762500" y="1524000"/>
            <a:ext cx="3429000" cy="6731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2" name="Text 10"/>
          <p:cNvSpPr/>
          <p:nvPr/>
        </p:nvSpPr>
        <p:spPr>
          <a:xfrm>
            <a:off x="5016500" y="1714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73025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28588" y="200025"/>
                </a:moveTo>
                <a:cubicBezTo>
                  <a:pt x="144393" y="200025"/>
                  <a:pt x="157163" y="212794"/>
                  <a:pt x="157163" y="228600"/>
                </a:cubicBezTo>
                <a:lnTo>
                  <a:pt x="157163" y="285750"/>
                </a:lnTo>
                <a:cubicBezTo>
                  <a:pt x="157163" y="301556"/>
                  <a:pt x="144393" y="314325"/>
                  <a:pt x="128588" y="314325"/>
                </a:cubicBezTo>
                <a:cubicBezTo>
                  <a:pt x="112782" y="314325"/>
                  <a:pt x="100013" y="301556"/>
                  <a:pt x="100013" y="285750"/>
                </a:cubicBezTo>
                <a:lnTo>
                  <a:pt x="100013" y="228600"/>
                </a:lnTo>
                <a:cubicBezTo>
                  <a:pt x="100013" y="212794"/>
                  <a:pt x="112782" y="200025"/>
                  <a:pt x="128588" y="200025"/>
                </a:cubicBezTo>
                <a:close/>
                <a:moveTo>
                  <a:pt x="257175" y="142875"/>
                </a:moveTo>
                <a:lnTo>
                  <a:pt x="257175" y="285750"/>
                </a:lnTo>
                <a:cubicBezTo>
                  <a:pt x="257175" y="301556"/>
                  <a:pt x="244406" y="314325"/>
                  <a:pt x="228600" y="314325"/>
                </a:cubicBezTo>
                <a:cubicBezTo>
                  <a:pt x="212794" y="314325"/>
                  <a:pt x="200025" y="301556"/>
                  <a:pt x="200025" y="285750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28613" y="171450"/>
                </a:moveTo>
                <a:cubicBezTo>
                  <a:pt x="344418" y="171450"/>
                  <a:pt x="357188" y="184219"/>
                  <a:pt x="357188" y="200025"/>
                </a:cubicBezTo>
                <a:lnTo>
                  <a:pt x="357188" y="285750"/>
                </a:lnTo>
                <a:cubicBezTo>
                  <a:pt x="357188" y="301556"/>
                  <a:pt x="344418" y="314325"/>
                  <a:pt x="328613" y="314325"/>
                </a:cubicBezTo>
                <a:cubicBezTo>
                  <a:pt x="312807" y="314325"/>
                  <a:pt x="300038" y="301556"/>
                  <a:pt x="300038" y="285750"/>
                </a:cubicBezTo>
                <a:lnTo>
                  <a:pt x="300038" y="200025"/>
                </a:lnTo>
                <a:cubicBezTo>
                  <a:pt x="300038" y="184219"/>
                  <a:pt x="312807" y="171450"/>
                  <a:pt x="328613" y="171450"/>
                </a:cubicBezTo>
                <a:close/>
                <a:moveTo>
                  <a:pt x="457200" y="85725"/>
                </a:moveTo>
                <a:lnTo>
                  <a:pt x="457200" y="285750"/>
                </a:lnTo>
                <a:cubicBezTo>
                  <a:pt x="457200" y="301556"/>
                  <a:pt x="444431" y="314325"/>
                  <a:pt x="428625" y="314325"/>
                </a:cubicBezTo>
                <a:cubicBezTo>
                  <a:pt x="412819" y="314325"/>
                  <a:pt x="400050" y="301556"/>
                  <a:pt x="400050" y="285750"/>
                </a:cubicBezTo>
                <a:lnTo>
                  <a:pt x="400050" y="85725"/>
                </a:lnTo>
                <a:cubicBezTo>
                  <a:pt x="400050" y="69919"/>
                  <a:pt x="412819" y="57150"/>
                  <a:pt x="428625" y="57150"/>
                </a:cubicBezTo>
                <a:cubicBezTo>
                  <a:pt x="444431" y="57150"/>
                  <a:pt x="457200" y="69919"/>
                  <a:pt x="457200" y="85725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16500" y="2476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Exploratory Analysis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16500" y="29464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16" name="Text 14"/>
          <p:cNvSpPr/>
          <p:nvPr/>
        </p:nvSpPr>
        <p:spPr>
          <a:xfrm>
            <a:off x="5016500" y="3149600"/>
            <a:ext cx="2921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summaries and distributions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 of numerical variables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Segmented churn rate comparison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Tool: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(Matplotlib, Seaborn)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4699000"/>
            <a:ext cx="317500" cy="0"/>
          </a:xfrm>
          <a:prstGeom prst="straightConnector1">
            <a:avLst/>
          </a:prstGeom>
          <a:noFill/>
          <a:ln w="25400">
            <a:solidFill>
              <a:srgbClr val="C75B3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763000" y="1524000"/>
            <a:ext cx="3429000" cy="6731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9" name="Text 17"/>
          <p:cNvSpPr/>
          <p:nvPr/>
        </p:nvSpPr>
        <p:spPr>
          <a:xfrm>
            <a:off x="9017000" y="1714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1303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017000" y="2476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Dashboard Build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17000" y="29464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0" y="3149600"/>
            <a:ext cx="2921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multi-page dashboard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DAX measures for KPI calculations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Bookmark navigation between views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Tool: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Microsoft Power BI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19000" y="4699000"/>
            <a:ext cx="317500" cy="0"/>
          </a:xfrm>
          <a:prstGeom prst="straightConnector1">
            <a:avLst/>
          </a:prstGeom>
          <a:noFill/>
          <a:ln w="25400">
            <a:solidFill>
              <a:srgbClr val="C75B3F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763500" y="1524000"/>
            <a:ext cx="2730500" cy="673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3017500" y="1714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14732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3017500" y="24765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Insights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3017500" y="2946400"/>
            <a:ext cx="508000" cy="254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30" name="Text 28"/>
          <p:cNvSpPr/>
          <p:nvPr/>
        </p:nvSpPr>
        <p:spPr>
          <a:xfrm>
            <a:off x="13017500" y="3149600"/>
            <a:ext cx="22225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business insights from patterns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Formulate actionable recommendations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by impact and feasibility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m4jkpg6ue4uw/mnt/agents/output/telco_churn/images/1_Signal_tower_telecommunication_network.png"/>
          <p:cNvPicPr>
            <a:picLocks noChangeAspect="1"/>
          </p:cNvPicPr>
          <p:nvPr/>
        </p:nvPicPr>
        <p:blipFill>
          <a:blip r:embed="rId3"/>
          <a:srcRect t="1631" b="16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2A4A">
                  <a:alpha val="93000"/>
                </a:srgbClr>
              </a:gs>
              <a:gs pos="60000">
                <a:srgbClr val="1B2A4A">
                  <a:alpha val="87000"/>
                </a:srgbClr>
              </a:gs>
              <a:gs pos="100000">
                <a:srgbClr val="1B2A4A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175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762000" cy="508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FINDINGS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discoveries from comprehensive customer churn analysis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26.5% Churn Rate Concentrated in High-Risk Customer Segments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2286000" cy="1206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7,043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2184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38500" y="1460500"/>
            <a:ext cx="2286000" cy="1206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8" name="Text 6"/>
          <p:cNvSpPr/>
          <p:nvPr/>
        </p:nvSpPr>
        <p:spPr>
          <a:xfrm>
            <a:off x="3238500" y="14986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1,869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38500" y="2184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Churned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460500"/>
            <a:ext cx="2286000" cy="1206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4986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73.5%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715000" y="2184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1500" y="1460500"/>
            <a:ext cx="2286000" cy="1206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4" name="Text 12"/>
          <p:cNvSpPr/>
          <p:nvPr/>
        </p:nvSpPr>
        <p:spPr>
          <a:xfrm>
            <a:off x="8191500" y="14986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$64.76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191500" y="2184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Monthly Charge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668000" y="1460500"/>
            <a:ext cx="2286000" cy="1206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0" y="14986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32.37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668000" y="21844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Tenure (months)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144500" y="1460500"/>
            <a:ext cx="2349500" cy="1206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3144500" y="1498600"/>
            <a:ext cx="2349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26.5%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3144500" y="21844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</a:t>
            </a:r>
            <a:endParaRPr lang="en-US" sz="1300" dirty="0"/>
          </a:p>
        </p:txBody>
      </p:sp>
      <p:pic>
        <p:nvPicPr>
          <p:cNvPr id="22" name="Image 0" descr="https://kimi-img.moonshot.cn/pub/slides/okc/gm4jkpg6ue4uw/mnt/agents/output/telco_churn/images/1FFA196D-BE21-4AFC-A0EB-184E4B919FF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921000"/>
            <a:ext cx="8636000" cy="54610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9412"/>
              </a:srgbClr>
            </a:outerShdw>
          </a:effectLst>
        </p:spPr>
      </p:pic>
      <p:sp>
        <p:nvSpPr>
          <p:cNvPr id="23" name="Text 20"/>
          <p:cNvSpPr/>
          <p:nvPr/>
        </p:nvSpPr>
        <p:spPr>
          <a:xfrm>
            <a:off x="9779000" y="292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779000" y="3429000"/>
            <a:ext cx="50800" cy="7620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25" name="Text 22"/>
          <p:cNvSpPr/>
          <p:nvPr/>
        </p:nvSpPr>
        <p:spPr>
          <a:xfrm>
            <a:off x="9982200" y="34290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Month-to-month contracts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account for 88.5% of all churn (1,655 customers)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779000" y="4381500"/>
            <a:ext cx="50800" cy="7620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27" name="Text 24"/>
          <p:cNvSpPr/>
          <p:nvPr/>
        </p:nvSpPr>
        <p:spPr>
          <a:xfrm>
            <a:off x="9982200" y="43815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Fiber Optic customers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churn at significantly higher rates than DSL users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779000" y="5334000"/>
            <a:ext cx="50800" cy="7620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29" name="Text 26"/>
          <p:cNvSpPr/>
          <p:nvPr/>
        </p:nvSpPr>
        <p:spPr>
          <a:xfrm>
            <a:off x="9982200" y="53340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Check payers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the highest churn among payment methods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779000" y="6286500"/>
            <a:ext cx="50800" cy="7620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31" name="Text 28"/>
          <p:cNvSpPr/>
          <p:nvPr/>
        </p:nvSpPr>
        <p:spPr>
          <a:xfrm>
            <a:off x="9982200" y="62865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Short-tenure customers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(under 10 months) represent the highest churn risk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2000" y="8509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Power BI Dashboard — Overview Page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Demographics Reveal Targetable Churn Risk Profiles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pic>
        <p:nvPicPr>
          <p:cNvPr id="4" name="Image 0" descr="https://kimi-img.moonshot.cn/pub/slides/okc/gm4jkpg6ue4uw/mnt/agents/output/telco_churn/images/A9FF6486-D402-4B58-A82D-5952534F50B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460500"/>
            <a:ext cx="9144000" cy="55880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9412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0287000" y="1460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DEMOGRAPHIC INSIGHTS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287000" y="2032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09550" y="-34925"/>
                </a:moveTo>
                <a:cubicBezTo>
                  <a:pt x="201823" y="-34925"/>
                  <a:pt x="195580" y="-27121"/>
                  <a:pt x="195580" y="-17462"/>
                </a:cubicBezTo>
                <a:cubicBezTo>
                  <a:pt x="195580" y="-7804"/>
                  <a:pt x="201823" y="0"/>
                  <a:pt x="209550" y="0"/>
                </a:cubicBezTo>
                <a:lnTo>
                  <a:pt x="231684" y="0"/>
                </a:lnTo>
                <a:lnTo>
                  <a:pt x="206931" y="30941"/>
                </a:lnTo>
                <a:cubicBezTo>
                  <a:pt x="195449" y="22374"/>
                  <a:pt x="182003" y="17463"/>
                  <a:pt x="167640" y="17463"/>
                </a:cubicBezTo>
                <a:cubicBezTo>
                  <a:pt x="152186" y="17463"/>
                  <a:pt x="137779" y="23192"/>
                  <a:pt x="125730" y="33015"/>
                </a:cubicBezTo>
                <a:cubicBezTo>
                  <a:pt x="113681" y="23192"/>
                  <a:pt x="99274" y="17463"/>
                  <a:pt x="83820" y="17463"/>
                </a:cubicBezTo>
                <a:cubicBezTo>
                  <a:pt x="41386" y="17463"/>
                  <a:pt x="6985" y="60464"/>
                  <a:pt x="6985" y="113506"/>
                </a:cubicBezTo>
                <a:cubicBezTo>
                  <a:pt x="6985" y="160600"/>
                  <a:pt x="34096" y="199782"/>
                  <a:pt x="69850" y="207967"/>
                </a:cubicBezTo>
                <a:lnTo>
                  <a:pt x="69850" y="227013"/>
                </a:lnTo>
                <a:lnTo>
                  <a:pt x="55880" y="227013"/>
                </a:lnTo>
                <a:cubicBezTo>
                  <a:pt x="48153" y="227013"/>
                  <a:pt x="41910" y="234816"/>
                  <a:pt x="41910" y="244475"/>
                </a:cubicBezTo>
                <a:cubicBezTo>
                  <a:pt x="41910" y="254134"/>
                  <a:pt x="48153" y="261938"/>
                  <a:pt x="55880" y="261938"/>
                </a:cubicBezTo>
                <a:lnTo>
                  <a:pt x="69850" y="261938"/>
                </a:lnTo>
                <a:lnTo>
                  <a:pt x="69850" y="279400"/>
                </a:lnTo>
                <a:cubicBezTo>
                  <a:pt x="69850" y="289059"/>
                  <a:pt x="76093" y="296863"/>
                  <a:pt x="83820" y="296863"/>
                </a:cubicBezTo>
                <a:cubicBezTo>
                  <a:pt x="91547" y="296863"/>
                  <a:pt x="97790" y="289059"/>
                  <a:pt x="97790" y="279400"/>
                </a:cubicBezTo>
                <a:lnTo>
                  <a:pt x="97790" y="261938"/>
                </a:lnTo>
                <a:lnTo>
                  <a:pt x="111760" y="261938"/>
                </a:lnTo>
                <a:cubicBezTo>
                  <a:pt x="119487" y="261938"/>
                  <a:pt x="125730" y="254134"/>
                  <a:pt x="125730" y="244475"/>
                </a:cubicBezTo>
                <a:cubicBezTo>
                  <a:pt x="125730" y="234816"/>
                  <a:pt x="119487" y="227013"/>
                  <a:pt x="111760" y="227013"/>
                </a:cubicBezTo>
                <a:lnTo>
                  <a:pt x="97790" y="227013"/>
                </a:lnTo>
                <a:lnTo>
                  <a:pt x="97790" y="207967"/>
                </a:lnTo>
                <a:cubicBezTo>
                  <a:pt x="107962" y="205621"/>
                  <a:pt x="117392" y="200819"/>
                  <a:pt x="125730" y="193997"/>
                </a:cubicBezTo>
                <a:cubicBezTo>
                  <a:pt x="137779" y="203820"/>
                  <a:pt x="152186" y="209550"/>
                  <a:pt x="167640" y="209550"/>
                </a:cubicBezTo>
                <a:cubicBezTo>
                  <a:pt x="210074" y="209550"/>
                  <a:pt x="244475" y="166549"/>
                  <a:pt x="244475" y="113506"/>
                </a:cubicBezTo>
                <a:cubicBezTo>
                  <a:pt x="244475" y="91078"/>
                  <a:pt x="238319" y="70396"/>
                  <a:pt x="227973" y="54025"/>
                </a:cubicBezTo>
                <a:lnTo>
                  <a:pt x="251460" y="24720"/>
                </a:lnTo>
                <a:lnTo>
                  <a:pt x="251460" y="52388"/>
                </a:lnTo>
                <a:cubicBezTo>
                  <a:pt x="251460" y="62046"/>
                  <a:pt x="257703" y="69850"/>
                  <a:pt x="265430" y="69850"/>
                </a:cubicBezTo>
                <a:cubicBezTo>
                  <a:pt x="273157" y="69850"/>
                  <a:pt x="279400" y="62046"/>
                  <a:pt x="279400" y="52388"/>
                </a:cubicBezTo>
                <a:lnTo>
                  <a:pt x="279400" y="-17462"/>
                </a:lnTo>
                <a:cubicBezTo>
                  <a:pt x="279400" y="-27121"/>
                  <a:pt x="273157" y="-34925"/>
                  <a:pt x="265430" y="-34925"/>
                </a:cubicBezTo>
                <a:lnTo>
                  <a:pt x="209550" y="-34925"/>
                </a:lnTo>
                <a:close/>
                <a:moveTo>
                  <a:pt x="146685" y="168731"/>
                </a:moveTo>
                <a:cubicBezTo>
                  <a:pt x="155504" y="153124"/>
                  <a:pt x="160655" y="134079"/>
                  <a:pt x="160655" y="113506"/>
                </a:cubicBezTo>
                <a:cubicBezTo>
                  <a:pt x="160655" y="92933"/>
                  <a:pt x="155504" y="73888"/>
                  <a:pt x="146685" y="58281"/>
                </a:cubicBezTo>
                <a:cubicBezTo>
                  <a:pt x="153059" y="54516"/>
                  <a:pt x="160131" y="52388"/>
                  <a:pt x="167640" y="52388"/>
                </a:cubicBezTo>
                <a:cubicBezTo>
                  <a:pt x="194663" y="52388"/>
                  <a:pt x="216535" y="79727"/>
                  <a:pt x="216535" y="113506"/>
                </a:cubicBezTo>
                <a:cubicBezTo>
                  <a:pt x="216535" y="147285"/>
                  <a:pt x="194663" y="174625"/>
                  <a:pt x="167640" y="174625"/>
                </a:cubicBezTo>
                <a:cubicBezTo>
                  <a:pt x="160131" y="174625"/>
                  <a:pt x="153015" y="172497"/>
                  <a:pt x="146685" y="168731"/>
                </a:cubicBezTo>
                <a:close/>
                <a:moveTo>
                  <a:pt x="125730" y="82019"/>
                </a:moveTo>
                <a:cubicBezTo>
                  <a:pt x="130183" y="91242"/>
                  <a:pt x="132715" y="101992"/>
                  <a:pt x="132715" y="113506"/>
                </a:cubicBezTo>
                <a:cubicBezTo>
                  <a:pt x="132715" y="125021"/>
                  <a:pt x="130183" y="135826"/>
                  <a:pt x="125730" y="144993"/>
                </a:cubicBezTo>
                <a:cubicBezTo>
                  <a:pt x="121277" y="135771"/>
                  <a:pt x="118745" y="125021"/>
                  <a:pt x="118745" y="113506"/>
                </a:cubicBezTo>
                <a:cubicBezTo>
                  <a:pt x="118745" y="101992"/>
                  <a:pt x="121277" y="91187"/>
                  <a:pt x="125730" y="82019"/>
                </a:cubicBezTo>
                <a:close/>
                <a:moveTo>
                  <a:pt x="104775" y="58281"/>
                </a:moveTo>
                <a:cubicBezTo>
                  <a:pt x="95956" y="73888"/>
                  <a:pt x="90805" y="92933"/>
                  <a:pt x="90805" y="113506"/>
                </a:cubicBezTo>
                <a:cubicBezTo>
                  <a:pt x="90805" y="134079"/>
                  <a:pt x="95956" y="153124"/>
                  <a:pt x="104775" y="168731"/>
                </a:cubicBezTo>
                <a:cubicBezTo>
                  <a:pt x="98445" y="172497"/>
                  <a:pt x="91329" y="174625"/>
                  <a:pt x="83820" y="174625"/>
                </a:cubicBezTo>
                <a:cubicBezTo>
                  <a:pt x="56797" y="174625"/>
                  <a:pt x="34925" y="147285"/>
                  <a:pt x="34925" y="113506"/>
                </a:cubicBezTo>
                <a:cubicBezTo>
                  <a:pt x="34925" y="79727"/>
                  <a:pt x="56797" y="52388"/>
                  <a:pt x="83820" y="52388"/>
                </a:cubicBezTo>
                <a:cubicBezTo>
                  <a:pt x="91329" y="52388"/>
                  <a:pt x="98445" y="54516"/>
                  <a:pt x="104775" y="58281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693400" y="19685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 is neutral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Female (939) and Male (930) churn rates are nearly identical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287000" y="2857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1514" y="47531"/>
                </a:moveTo>
                <a:lnTo>
                  <a:pt x="139700" y="58827"/>
                </a:lnTo>
                <a:lnTo>
                  <a:pt x="147886" y="47531"/>
                </a:lnTo>
                <a:cubicBezTo>
                  <a:pt x="161528" y="28649"/>
                  <a:pt x="183465" y="17463"/>
                  <a:pt x="206767" y="17463"/>
                </a:cubicBezTo>
                <a:cubicBezTo>
                  <a:pt x="246876" y="17463"/>
                  <a:pt x="279400" y="49986"/>
                  <a:pt x="279400" y="90096"/>
                </a:cubicBezTo>
                <a:lnTo>
                  <a:pt x="279400" y="91514"/>
                </a:lnTo>
                <a:cubicBezTo>
                  <a:pt x="279400" y="152742"/>
                  <a:pt x="203056" y="223847"/>
                  <a:pt x="163220" y="254243"/>
                </a:cubicBezTo>
                <a:cubicBezTo>
                  <a:pt x="156453" y="259373"/>
                  <a:pt x="148158" y="261938"/>
                  <a:pt x="139700" y="261938"/>
                </a:cubicBezTo>
                <a:cubicBezTo>
                  <a:pt x="131242" y="261938"/>
                  <a:pt x="122892" y="259427"/>
                  <a:pt x="116180" y="254243"/>
                </a:cubicBezTo>
                <a:cubicBezTo>
                  <a:pt x="76344" y="223847"/>
                  <a:pt x="0" y="152742"/>
                  <a:pt x="0" y="91514"/>
                </a:cubicBezTo>
                <a:lnTo>
                  <a:pt x="0" y="90096"/>
                </a:lnTo>
                <a:cubicBezTo>
                  <a:pt x="0" y="49986"/>
                  <a:pt x="32524" y="17463"/>
                  <a:pt x="72633" y="17463"/>
                </a:cubicBezTo>
                <a:cubicBezTo>
                  <a:pt x="95935" y="17463"/>
                  <a:pt x="117872" y="28649"/>
                  <a:pt x="131514" y="47531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10693400" y="27940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status matters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partner: 1,200 churned vs With partner: 669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287000" y="368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0068" y="0"/>
                </a:moveTo>
                <a:cubicBezTo>
                  <a:pt x="85489" y="0"/>
                  <a:pt x="98008" y="15649"/>
                  <a:pt x="98008" y="34925"/>
                </a:cubicBezTo>
                <a:cubicBezTo>
                  <a:pt x="98008" y="54201"/>
                  <a:pt x="85489" y="69850"/>
                  <a:pt x="70068" y="69850"/>
                </a:cubicBezTo>
                <a:cubicBezTo>
                  <a:pt x="54648" y="69850"/>
                  <a:pt x="42128" y="54201"/>
                  <a:pt x="42128" y="34925"/>
                </a:cubicBezTo>
                <a:cubicBezTo>
                  <a:pt x="42128" y="15649"/>
                  <a:pt x="54648" y="0"/>
                  <a:pt x="70068" y="0"/>
                </a:cubicBezTo>
                <a:close/>
                <a:moveTo>
                  <a:pt x="38636" y="261938"/>
                </a:moveTo>
                <a:lnTo>
                  <a:pt x="38636" y="218281"/>
                </a:lnTo>
                <a:lnTo>
                  <a:pt x="30865" y="218281"/>
                </a:lnTo>
                <a:cubicBezTo>
                  <a:pt x="26106" y="218281"/>
                  <a:pt x="22745" y="212442"/>
                  <a:pt x="24229" y="206767"/>
                </a:cubicBezTo>
                <a:lnTo>
                  <a:pt x="37850" y="155798"/>
                </a:lnTo>
                <a:lnTo>
                  <a:pt x="25321" y="176426"/>
                </a:lnTo>
                <a:cubicBezTo>
                  <a:pt x="20649" y="184120"/>
                  <a:pt x="11875" y="185594"/>
                  <a:pt x="5763" y="179809"/>
                </a:cubicBezTo>
                <a:cubicBezTo>
                  <a:pt x="-349" y="174025"/>
                  <a:pt x="-1615" y="163002"/>
                  <a:pt x="3056" y="155362"/>
                </a:cubicBezTo>
                <a:lnTo>
                  <a:pt x="28769" y="112961"/>
                </a:lnTo>
                <a:cubicBezTo>
                  <a:pt x="38548" y="96808"/>
                  <a:pt x="53872" y="87313"/>
                  <a:pt x="70068" y="87313"/>
                </a:cubicBezTo>
                <a:cubicBezTo>
                  <a:pt x="86265" y="87313"/>
                  <a:pt x="101588" y="96808"/>
                  <a:pt x="111367" y="112961"/>
                </a:cubicBezTo>
                <a:lnTo>
                  <a:pt x="137081" y="155362"/>
                </a:lnTo>
                <a:cubicBezTo>
                  <a:pt x="141752" y="163056"/>
                  <a:pt x="140529" y="174025"/>
                  <a:pt x="134374" y="179809"/>
                </a:cubicBezTo>
                <a:cubicBezTo>
                  <a:pt x="128218" y="185594"/>
                  <a:pt x="119444" y="184120"/>
                  <a:pt x="114816" y="176426"/>
                </a:cubicBezTo>
                <a:lnTo>
                  <a:pt x="102287" y="155798"/>
                </a:lnTo>
                <a:lnTo>
                  <a:pt x="115864" y="206767"/>
                </a:lnTo>
                <a:cubicBezTo>
                  <a:pt x="117392" y="212442"/>
                  <a:pt x="113986" y="218281"/>
                  <a:pt x="109228" y="218281"/>
                </a:cubicBezTo>
                <a:lnTo>
                  <a:pt x="101457" y="218281"/>
                </a:lnTo>
                <a:lnTo>
                  <a:pt x="101457" y="261938"/>
                </a:lnTo>
                <a:cubicBezTo>
                  <a:pt x="101457" y="271596"/>
                  <a:pt x="95214" y="279400"/>
                  <a:pt x="87487" y="279400"/>
                </a:cubicBezTo>
                <a:cubicBezTo>
                  <a:pt x="79760" y="279400"/>
                  <a:pt x="73517" y="271596"/>
                  <a:pt x="73517" y="261938"/>
                </a:cubicBezTo>
                <a:lnTo>
                  <a:pt x="73517" y="218281"/>
                </a:lnTo>
                <a:lnTo>
                  <a:pt x="66532" y="218281"/>
                </a:lnTo>
                <a:lnTo>
                  <a:pt x="66532" y="261938"/>
                </a:lnTo>
                <a:cubicBezTo>
                  <a:pt x="66532" y="271596"/>
                  <a:pt x="60289" y="279400"/>
                  <a:pt x="52562" y="279400"/>
                </a:cubicBezTo>
                <a:cubicBezTo>
                  <a:pt x="44835" y="279400"/>
                  <a:pt x="38592" y="271596"/>
                  <a:pt x="38592" y="261938"/>
                </a:cubicBezTo>
                <a:close/>
                <a:moveTo>
                  <a:pt x="209768" y="0"/>
                </a:moveTo>
                <a:cubicBezTo>
                  <a:pt x="225189" y="0"/>
                  <a:pt x="237708" y="15649"/>
                  <a:pt x="237708" y="34925"/>
                </a:cubicBezTo>
                <a:cubicBezTo>
                  <a:pt x="237708" y="54201"/>
                  <a:pt x="225189" y="69850"/>
                  <a:pt x="209768" y="69850"/>
                </a:cubicBezTo>
                <a:cubicBezTo>
                  <a:pt x="194348" y="69850"/>
                  <a:pt x="181828" y="54201"/>
                  <a:pt x="181828" y="34925"/>
                </a:cubicBezTo>
                <a:cubicBezTo>
                  <a:pt x="181828" y="15649"/>
                  <a:pt x="194348" y="0"/>
                  <a:pt x="209768" y="0"/>
                </a:cubicBezTo>
                <a:close/>
                <a:moveTo>
                  <a:pt x="206276" y="209550"/>
                </a:moveTo>
                <a:lnTo>
                  <a:pt x="206276" y="261938"/>
                </a:lnTo>
                <a:cubicBezTo>
                  <a:pt x="206276" y="271596"/>
                  <a:pt x="200033" y="279400"/>
                  <a:pt x="192306" y="279400"/>
                </a:cubicBezTo>
                <a:cubicBezTo>
                  <a:pt x="184579" y="279400"/>
                  <a:pt x="178336" y="271596"/>
                  <a:pt x="178336" y="261938"/>
                </a:cubicBezTo>
                <a:lnTo>
                  <a:pt x="178336" y="163984"/>
                </a:lnTo>
                <a:lnTo>
                  <a:pt x="172704" y="175171"/>
                </a:lnTo>
                <a:cubicBezTo>
                  <a:pt x="168600" y="183356"/>
                  <a:pt x="159957" y="185757"/>
                  <a:pt x="153452" y="180628"/>
                </a:cubicBezTo>
                <a:cubicBezTo>
                  <a:pt x="146947" y="175498"/>
                  <a:pt x="144982" y="164693"/>
                  <a:pt x="149086" y="156562"/>
                </a:cubicBezTo>
                <a:lnTo>
                  <a:pt x="171656" y="111760"/>
                </a:lnTo>
                <a:cubicBezTo>
                  <a:pt x="179340" y="96535"/>
                  <a:pt x="192742" y="87258"/>
                  <a:pt x="207105" y="87258"/>
                </a:cubicBezTo>
                <a:lnTo>
                  <a:pt x="212475" y="87258"/>
                </a:lnTo>
                <a:cubicBezTo>
                  <a:pt x="226882" y="87258"/>
                  <a:pt x="240284" y="96480"/>
                  <a:pt x="247924" y="111760"/>
                </a:cubicBezTo>
                <a:lnTo>
                  <a:pt x="270494" y="156617"/>
                </a:lnTo>
                <a:cubicBezTo>
                  <a:pt x="274598" y="164802"/>
                  <a:pt x="272633" y="175553"/>
                  <a:pt x="266129" y="180682"/>
                </a:cubicBezTo>
                <a:cubicBezTo>
                  <a:pt x="259624" y="185812"/>
                  <a:pt x="250980" y="183356"/>
                  <a:pt x="246876" y="175225"/>
                </a:cubicBezTo>
                <a:lnTo>
                  <a:pt x="241244" y="164038"/>
                </a:lnTo>
                <a:lnTo>
                  <a:pt x="241244" y="261992"/>
                </a:lnTo>
                <a:cubicBezTo>
                  <a:pt x="241244" y="271651"/>
                  <a:pt x="235002" y="279455"/>
                  <a:pt x="227274" y="279455"/>
                </a:cubicBezTo>
                <a:cubicBezTo>
                  <a:pt x="219547" y="279455"/>
                  <a:pt x="213304" y="271651"/>
                  <a:pt x="213304" y="261992"/>
                </a:cubicBezTo>
                <a:lnTo>
                  <a:pt x="213304" y="209605"/>
                </a:lnTo>
                <a:lnTo>
                  <a:pt x="206319" y="209605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10693400" y="36195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Dependents reduce churn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dependents: 1,543 vs With dependents: 326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87000" y="4508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34925"/>
                </a:moveTo>
                <a:cubicBezTo>
                  <a:pt x="191117" y="34925"/>
                  <a:pt x="232833" y="81855"/>
                  <a:pt x="232833" y="139700"/>
                </a:cubicBezTo>
                <a:cubicBezTo>
                  <a:pt x="232833" y="197545"/>
                  <a:pt x="191117" y="244475"/>
                  <a:pt x="139700" y="244475"/>
                </a:cubicBezTo>
                <a:cubicBezTo>
                  <a:pt x="108073" y="244475"/>
                  <a:pt x="80085" y="226740"/>
                  <a:pt x="63253" y="199564"/>
                </a:cubicBezTo>
                <a:cubicBezTo>
                  <a:pt x="58354" y="191651"/>
                  <a:pt x="48652" y="189741"/>
                  <a:pt x="41619" y="195253"/>
                </a:cubicBezTo>
                <a:cubicBezTo>
                  <a:pt x="34585" y="200764"/>
                  <a:pt x="32888" y="211678"/>
                  <a:pt x="37787" y="219591"/>
                </a:cubicBezTo>
                <a:cubicBezTo>
                  <a:pt x="60197" y="255716"/>
                  <a:pt x="97499" y="279400"/>
                  <a:pt x="139700" y="279400"/>
                </a:cubicBezTo>
                <a:cubicBezTo>
                  <a:pt x="208289" y="279400"/>
                  <a:pt x="263878" y="216862"/>
                  <a:pt x="263878" y="139700"/>
                </a:cubicBezTo>
                <a:cubicBezTo>
                  <a:pt x="263878" y="62538"/>
                  <a:pt x="208289" y="0"/>
                  <a:pt x="139700" y="0"/>
                </a:cubicBezTo>
                <a:cubicBezTo>
                  <a:pt x="98130" y="0"/>
                  <a:pt x="61361" y="22974"/>
                  <a:pt x="38806" y="58227"/>
                </a:cubicBezTo>
                <a:lnTo>
                  <a:pt x="38806" y="43656"/>
                </a:lnTo>
                <a:cubicBezTo>
                  <a:pt x="38806" y="33997"/>
                  <a:pt x="31869" y="26194"/>
                  <a:pt x="23283" y="26194"/>
                </a:cubicBezTo>
                <a:cubicBezTo>
                  <a:pt x="14698" y="26194"/>
                  <a:pt x="7761" y="33997"/>
                  <a:pt x="7761" y="43656"/>
                </a:cubicBezTo>
                <a:lnTo>
                  <a:pt x="7761" y="104775"/>
                </a:lnTo>
                <a:cubicBezTo>
                  <a:pt x="7761" y="114434"/>
                  <a:pt x="14698" y="122238"/>
                  <a:pt x="23283" y="122238"/>
                </a:cubicBezTo>
                <a:lnTo>
                  <a:pt x="35216" y="122238"/>
                </a:lnTo>
                <a:cubicBezTo>
                  <a:pt x="35459" y="122238"/>
                  <a:pt x="35701" y="122238"/>
                  <a:pt x="35944" y="122238"/>
                </a:cubicBezTo>
                <a:lnTo>
                  <a:pt x="77660" y="122238"/>
                </a:lnTo>
                <a:cubicBezTo>
                  <a:pt x="86245" y="122238"/>
                  <a:pt x="93182" y="114434"/>
                  <a:pt x="93182" y="104775"/>
                </a:cubicBezTo>
                <a:cubicBezTo>
                  <a:pt x="93182" y="95116"/>
                  <a:pt x="86245" y="87313"/>
                  <a:pt x="77660" y="87313"/>
                </a:cubicBezTo>
                <a:lnTo>
                  <a:pt x="59081" y="87313"/>
                </a:lnTo>
                <a:cubicBezTo>
                  <a:pt x="75137" y="55989"/>
                  <a:pt x="105260" y="34925"/>
                  <a:pt x="139700" y="34925"/>
                </a:cubicBezTo>
                <a:close/>
                <a:moveTo>
                  <a:pt x="151342" y="82947"/>
                </a:moveTo>
                <a:cubicBezTo>
                  <a:pt x="151342" y="75689"/>
                  <a:pt x="146151" y="69850"/>
                  <a:pt x="139700" y="69850"/>
                </a:cubicBezTo>
                <a:cubicBezTo>
                  <a:pt x="133249" y="69850"/>
                  <a:pt x="128058" y="75689"/>
                  <a:pt x="128058" y="82947"/>
                </a:cubicBezTo>
                <a:lnTo>
                  <a:pt x="128058" y="139700"/>
                </a:lnTo>
                <a:cubicBezTo>
                  <a:pt x="128058" y="143192"/>
                  <a:pt x="129271" y="146521"/>
                  <a:pt x="131454" y="148977"/>
                </a:cubicBezTo>
                <a:lnTo>
                  <a:pt x="166379" y="188268"/>
                </a:lnTo>
                <a:cubicBezTo>
                  <a:pt x="170938" y="193397"/>
                  <a:pt x="178312" y="193397"/>
                  <a:pt x="182823" y="188268"/>
                </a:cubicBezTo>
                <a:cubicBezTo>
                  <a:pt x="187334" y="183138"/>
                  <a:pt x="187382" y="174843"/>
                  <a:pt x="182823" y="169768"/>
                </a:cubicBezTo>
                <a:lnTo>
                  <a:pt x="151293" y="134298"/>
                </a:lnTo>
                <a:lnTo>
                  <a:pt x="151293" y="82947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3400" y="44450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 peaks early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Highest churn at month 1 (380), declining steadily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287000" y="5397500"/>
            <a:ext cx="5207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41000" y="5524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HIGHEST RISK PROFILE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41000" y="59690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customers (&lt;10 months), without partners or dependents, on month-to-month contracts with Fiber Optic service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2000" y="8509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Power BI Dashboard — Customer Profile Page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Month-to-Month Contracts Drive 88.5% of All Customer Churn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BY CONTRACT TYPE</a:t>
            </a:r>
            <a:endParaRPr lang="en-US" sz="1300" dirty="0"/>
          </a:p>
        </p:txBody>
      </p:sp>
      <p:pic>
        <p:nvPicPr>
          <p:cNvPr id="5" name="Image 0" descr="https://kimi-img.moonshot.cn/pub/slides/okc/gm4jkpg6ue4uw/mnt/agents/output/telco_churn/images/8C2934F6-CC91-4031-9C7F-86ED610D5DD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778000"/>
            <a:ext cx="7112000" cy="4318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8235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382000" y="13716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BY INTERNET SERVICE</a:t>
            </a:r>
            <a:endParaRPr lang="en-US" sz="1300" dirty="0"/>
          </a:p>
        </p:txBody>
      </p:sp>
      <p:pic>
        <p:nvPicPr>
          <p:cNvPr id="7" name="Image 1" descr="https://kimi-img.moonshot.cn/pub/slides/okc/gm4jkpg6ue4uw/mnt/agents/output/telco_churn/images/55DE1B21-7FC3-4845-92B9-06C8360FAB7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0" y="1778000"/>
            <a:ext cx="7112000" cy="4318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8235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762000" y="6413500"/>
            <a:ext cx="14732000" cy="1778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9" name="Text 5"/>
          <p:cNvSpPr/>
          <p:nvPr/>
        </p:nvSpPr>
        <p:spPr>
          <a:xfrm>
            <a:off x="1079500" y="6540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1,655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079500" y="7137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Month-to-month churned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79500" y="74930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88.5% of total churn from flexible contracts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88000" y="6540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1,297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5588000" y="7137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Fiber Optic churned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88000" y="74930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churn rate among internet services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160000" y="6540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48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10160000" y="7137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Two-year contract churned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160000" y="7493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contracts show strong retention power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62000" y="8382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Python Analysis — Contract Type &amp; Internet Service Charts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Payment Method and Service Gaps Amplify Churn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BY PAYMENT METHOD</a:t>
            </a:r>
            <a:endParaRPr lang="en-US" sz="1300" dirty="0"/>
          </a:p>
        </p:txBody>
      </p:sp>
      <p:pic>
        <p:nvPicPr>
          <p:cNvPr id="5" name="Image 0" descr="https://kimi-img.moonshot.cn/pub/slides/okc/gm4jkpg6ue4uw/mnt/agents/output/telco_churn/images/5570535B-D64E-441A-A918-741CFACFAEF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778000"/>
            <a:ext cx="7112000" cy="4318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8235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382000" y="13716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PROTECTION ANALYSIS</a:t>
            </a:r>
            <a:endParaRPr lang="en-US" sz="1300" dirty="0"/>
          </a:p>
        </p:txBody>
      </p:sp>
      <p:pic>
        <p:nvPicPr>
          <p:cNvPr id="7" name="Image 1" descr="https://kimi-img.moonshot.cn/pub/slides/okc/gm4jkpg6ue4uw/mnt/agents/output/telco_churn/images/A976F064-6912-4439-A06C-888AEF183E4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0" y="1778000"/>
            <a:ext cx="7112000" cy="4318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8235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762000" y="6413500"/>
            <a:ext cx="14732000" cy="1778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9" name="Text 5"/>
          <p:cNvSpPr/>
          <p:nvPr/>
        </p:nvSpPr>
        <p:spPr>
          <a:xfrm>
            <a:off x="1079500" y="6540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1,294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079500" y="71374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Check churned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79500" y="74930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payment correlates with higher exit risk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88000" y="6540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1,461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5588000" y="71374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Online Security churned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88000" y="74930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Value-added services drive retention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160000" y="6540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1,446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10160000" y="71374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Tech Support churned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160000" y="7493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services are critical churn preventers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62000" y="8382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Python &amp; Power BI — Payment Method Chart, Services Dashboard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Tenure and Charges Show Strong Correlation with Churn Behavior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HEATMAP</a:t>
            </a:r>
            <a:endParaRPr lang="en-US" sz="1300" dirty="0"/>
          </a:p>
        </p:txBody>
      </p:sp>
      <p:pic>
        <p:nvPicPr>
          <p:cNvPr id="5" name="Image 0" descr="https://kimi-img.moonshot.cn/pub/slides/okc/gm4jkpg6ue4uw/mnt/agents/output/telco_churn/images/71929F22-5D32-410B-9C74-BD956A5CE2F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778000"/>
            <a:ext cx="6604000" cy="4699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8235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874000" y="1371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C75B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INFLUENCER ANALYSIS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74000" y="1778000"/>
            <a:ext cx="7620000" cy="469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8" name="Text 5"/>
          <p:cNvSpPr/>
          <p:nvPr/>
        </p:nvSpPr>
        <p:spPr>
          <a:xfrm>
            <a:off x="8191500" y="1968500"/>
            <a:ext cx="698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Top Churn Drivers (Likelihood Multiplier)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91500" y="2540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6.32x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334500" y="2540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Month-to-month contract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91500" y="3175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3.63x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9334500" y="3175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Online Security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91500" y="3810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3.51x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334500" y="3810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Tech Support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91500" y="4445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2.89x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334500" y="4445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Fiber Optic internet service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91500" y="5080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2.65x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9334500" y="5080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Check payment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91500" y="5715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5A6B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2.48x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9334500" y="5715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Online Backup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findings: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Tenure correlates strongly with TotalCharges (0.83) and MonthlyCharges (0.65), indicating that longer-tenured customers accumulate higher charges. The Key Influencer analysis in Power BI confirms that contract type is the dominant churn predictor, with month-to-month customers being over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6x more likely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churn than those on long-term contracts.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8382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Python Correlation Analysis &amp; Power BI Key Influencer Visual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m4jkpg6ue4uw/mnt/agents/output/telco_churn/images/1_Signal_tower_telecommunication_network.png"/>
          <p:cNvPicPr>
            <a:picLocks noChangeAspect="1"/>
          </p:cNvPicPr>
          <p:nvPr/>
        </p:nvPicPr>
        <p:blipFill>
          <a:blip r:embed="rId3"/>
          <a:srcRect t="1631" b="16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2A4A">
                  <a:alpha val="93000"/>
                </a:srgbClr>
              </a:gs>
              <a:gs pos="60000">
                <a:srgbClr val="1B2A4A">
                  <a:alpha val="87000"/>
                </a:srgbClr>
              </a:gs>
              <a:gs pos="100000">
                <a:srgbClr val="1B2A4A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175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762000" cy="508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RECOMMENDATIONS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retention strategies to reduce churn and improve customer loyalty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Five Priority Actions to Reduce Churn and Improve Retention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75500" cy="215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78000" y="1625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Promote Long-Term Contracts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discounts and loyalty rewards for 1-year and 2-year contract commitments. Month-to-month contracts drive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88.5% of churn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converting even 20% would save ~331 customers.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460500"/>
            <a:ext cx="7175500" cy="215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0" y="158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334500" y="1625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Improve Onboarding Experience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72500" y="21590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structured onboarding for the first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months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churn peaks. Proactive check-ins, tutorials, and dedicated support can reduce early-tenure attrition.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873500"/>
            <a:ext cx="7175500" cy="215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000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78000" y="4038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Bundle Value-Added Services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16000" y="45720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Security, Tech Support, and Device Protection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core internet plans. Customers without these services churn at 2.5-3.6x higher rates.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18500" y="3873500"/>
            <a:ext cx="7175500" cy="215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0" y="4000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334500" y="4038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Review Pricing Strategy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72500" y="45720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Reassess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Fiber Optic pricing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high-value users. Higher monthly charges correlate with increased churn — consider tiered pricing or loyalty discounts.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286500"/>
            <a:ext cx="14732000" cy="177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6413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778000" y="6451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Target High-Risk Customers Proactively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16000" y="69850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predictive churn scoring to identify at-risk customers before they leave. Focus on: month-to-month contracts + Fiber Optic + Electronic Check + no value-added services + tenure &lt; 10 months. Proactive outreach with personalized retention offers can prevent 30-40% of predicted churn.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382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Analysis-derived recommendations based on churn driver findings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m4jkpg6ue4uw/mnt/agents/output/telco_churn/images/1_Signal_tower_telecommunication_network.png"/>
          <p:cNvPicPr>
            <a:picLocks noChangeAspect="1"/>
          </p:cNvPicPr>
          <p:nvPr/>
        </p:nvPicPr>
        <p:blipFill>
          <a:blip r:embed="rId3"/>
          <a:srcRect t="1631" b="16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2A4A">
                  <a:alpha val="87000"/>
                </a:srgbClr>
              </a:gs>
              <a:gs pos="40000">
                <a:srgbClr val="1B2A4A">
                  <a:alpha val="80000"/>
                </a:srgbClr>
              </a:gs>
              <a:gs pos="100000">
                <a:srgbClr val="1B2A4A">
                  <a:alpha val="9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667000"/>
            <a:ext cx="2540000" cy="38100"/>
          </a:xfrm>
          <a:prstGeom prst="rect">
            <a:avLst/>
          </a:prstGeom>
          <a:solidFill>
            <a:srgbClr val="C75B3F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921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DATA-DRIVEN RETENTION DELIVERS RESULTS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13000" y="3937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analysis demonstrates how business analytics transforms customer data into actionable insights that support strategic decision-making and reduce customer churn.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175500" y="5207000"/>
            <a:ext cx="1905000" cy="12700"/>
          </a:xfrm>
          <a:prstGeom prst="rect">
            <a:avLst/>
          </a:prstGeom>
          <a:solidFill>
            <a:srgbClr val="FFFFFF">
              <a:alpha val="26667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5461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Implementing these recommendations can improve customer loyalty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78000" y="5905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drive sustainable profitability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175500" y="6604000"/>
            <a:ext cx="1905000" cy="12700"/>
          </a:xfrm>
          <a:prstGeom prst="rect">
            <a:avLst/>
          </a:prstGeom>
          <a:solidFill>
            <a:srgbClr val="FFFFFF">
              <a:alpha val="26667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953000" y="6921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5B3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318000" y="762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 Gloria Ubah | AnalystLab Africa Internship Program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Office PowerPoint</Application>
  <PresentationFormat>Custom</PresentationFormat>
  <Paragraphs>219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Oranienbaum</vt:lpstr>
      <vt:lpstr>Arial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Telco Customer Churn Analysis</dc:subject>
  <dc:creator>Kimi</dc:creator>
  <cp:lastModifiedBy>gloria ubah</cp:lastModifiedBy>
  <cp:revision>1</cp:revision>
  <dcterms:created xsi:type="dcterms:W3CDTF">2026-07-06T05:50:29Z</dcterms:created>
  <dcterms:modified xsi:type="dcterms:W3CDTF">2026-07-06T07:46:20Z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{"Label":"Telco Customer Churn Analysis","ContentProducer":"001191110108MACG2KBH8F10000","ProduceID":"19f35d38-9d62-8096-8000-0000dcea50c0","ReservedCode1":"","ContentPropagator":"001191110108MACG2KBH8F20000","PropagateID":"19f35cef-e2b2-828d-8000-09f217a877ab","ReservedCode2":""}</vt:lpwstr>
  </property>
</Properties>
</file>